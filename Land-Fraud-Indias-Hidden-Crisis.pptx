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335113"/>
            <a:ext cx="6296860" cy="129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Land Fraud: India's Hidden Crisis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5233360" y="391795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forensic verification platform to digitize, detect, and prove land ownership in Tamil Nadu — built for the era of digital governance.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138" y="477441"/>
            <a:ext cx="4427228" cy="5903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9537"/>
            <a:ext cx="6296860" cy="994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6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 Forged Deeds, Disputed Ownership</a:t>
            </a:r>
            <a:endParaRPr lang="en-US" sz="3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40495"/>
            <a:ext cx="6296860" cy="10514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1380" y="1904206"/>
            <a:ext cx="5893248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₹2.5 Lakh Crore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01380" y="2219424"/>
            <a:ext cx="589324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disputed land claims across India — one of the largest categories of civil litigation in the country.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02645"/>
            <a:ext cx="6296860" cy="10514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1380" y="3066355"/>
            <a:ext cx="5893248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15–45 Days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01380" y="3381573"/>
            <a:ext cx="589324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verification time per property. Citizens must visit offices, wait in queues, and hope records haven't been tampered with.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64794"/>
            <a:ext cx="6296860" cy="10514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1380" y="4228505"/>
            <a:ext cx="5893248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Handwritten Registers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01380" y="4543723"/>
            <a:ext cx="589324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records are vulnerable to ink alteration, page substitution, and deliberate forgery — with no digital audit trail.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26943"/>
            <a:ext cx="6296860" cy="10514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1380" y="5390654"/>
            <a:ext cx="5893248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Self-Service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901380" y="5705872"/>
            <a:ext cx="589324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Citizens have no way to verify ownership without physically visiting revenue offices — a systemic gap exploited by fraudsters.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0258"/>
            <a:ext cx="4637269" cy="46373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6251" y="819845"/>
            <a:ext cx="1319279" cy="287139"/>
          </a:xfrm>
          <a:prstGeom prst="roundRect">
            <a:avLst>
              <a:gd name="adj" fmla="val 22118"/>
            </a:avLst>
          </a:prstGeom>
          <a:solidFill>
            <a:srgbClr val="E0D7F4"/>
          </a:solidFill>
          <a:ln/>
        </p:spPr>
      </p:sp>
      <p:sp>
        <p:nvSpPr>
          <p:cNvPr id="4" name="Text 1"/>
          <p:cNvSpPr/>
          <p:nvPr/>
        </p:nvSpPr>
        <p:spPr>
          <a:xfrm>
            <a:off x="5879655" y="876498"/>
            <a:ext cx="17020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REGION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66251" y="1182588"/>
            <a:ext cx="5770220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Tamil Nadu?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6380499" y="2109788"/>
            <a:ext cx="5155972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6237C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8.6M registered properties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40% with ownership disputes in urban areas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80499" y="3202583"/>
            <a:ext cx="5155972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Bhoomi/Bhulekh systems 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lack forensic verification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capabilities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80499" y="4295378"/>
            <a:ext cx="5155972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High-value real estate market makes fraud 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extremely lucrative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80499" y="5388173"/>
            <a:ext cx="5155972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Strong 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infrastructure readiness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ideal for phased deployment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3981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Solution: Digitize, Verify, Prove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661475" y="2401689"/>
            <a:ext cx="5339820" cy="1446609"/>
          </a:xfrm>
          <a:prstGeom prst="roundRect">
            <a:avLst>
              <a:gd name="adj" fmla="val 548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597051"/>
            <a:ext cx="4949106" cy="33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Scan &amp; Extract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6832" y="304809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land registers scanned and processed — structured data output with confidence scores per field.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01689"/>
            <a:ext cx="5339919" cy="1446609"/>
          </a:xfrm>
          <a:prstGeom prst="roundRect">
            <a:avLst>
              <a:gd name="adj" fmla="val 548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597051"/>
            <a:ext cx="4949205" cy="33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Forensic Analysis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85658" y="3048099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tampering, overlapping claims, and conflicting survey boundaries automatically.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37310"/>
            <a:ext cx="5339820" cy="1446609"/>
          </a:xfrm>
          <a:prstGeom prst="roundRect">
            <a:avLst>
              <a:gd name="adj" fmla="val 548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32672"/>
            <a:ext cx="4949106" cy="33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Immutable Audit Trail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6832" y="4683720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verification event is chained — tamper-evident, time-stamped, legally defensible.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37310"/>
            <a:ext cx="5339919" cy="1446609"/>
          </a:xfrm>
          <a:prstGeom prst="roundRect">
            <a:avLst>
              <a:gd name="adj" fmla="val 548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32672"/>
            <a:ext cx="4949205" cy="33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Public API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85658" y="4683720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directly with Bhoomi, DILRMP, and Bhulekh — no rip-and-replace required.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304951"/>
            <a:ext cx="90941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879" y="2361605"/>
            <a:ext cx="129219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667695"/>
            <a:ext cx="6296860" cy="1299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150" b="1" spc="-16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Pipeline</a:t>
            </a:r>
            <a:endParaRPr lang="en-US" sz="8150" dirty="0"/>
          </a:p>
        </p:txBody>
      </p:sp>
      <p:sp>
        <p:nvSpPr>
          <p:cNvPr id="7" name="Text 4"/>
          <p:cNvSpPr/>
          <p:nvPr/>
        </p:nvSpPr>
        <p:spPr>
          <a:xfrm>
            <a:off x="661475" y="425063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scanned paper to verified spatial record — step by step.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570"/>
            <a:ext cx="10868745" cy="63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8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Paper to Data: 7-Step Flow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64904"/>
            <a:ext cx="5773593" cy="2642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82309" y="4569371"/>
            <a:ext cx="108392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 JSON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716265" y="4569371"/>
            <a:ext cx="108392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OCR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357646" y="4569371"/>
            <a:ext cx="108392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9329" y="4569371"/>
            <a:ext cx="108392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95233" y="1622028"/>
            <a:ext cx="4641337" cy="3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Comes Out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95233" y="2124968"/>
            <a:ext cx="464133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processed page yields a structured JSON record containing: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95233" y="2880320"/>
            <a:ext cx="4641337" cy="173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Owner name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 Tamil and transliterated)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Survey number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format validation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Area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hectares with unit normalization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Boundaries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parsed as spatial references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 of registration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confidence score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895233" y="4819055"/>
            <a:ext cx="4641337" cy="1308298"/>
          </a:xfrm>
          <a:prstGeom prst="roundRect">
            <a:avLst>
              <a:gd name="adj" fmla="val 5973"/>
            </a:avLst>
          </a:prstGeom>
          <a:solidFill>
            <a:srgbClr val="E0D7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263" y="5095379"/>
            <a:ext cx="232563" cy="1860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9857" y="5030291"/>
            <a:ext cx="385068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field carries a confidence score — fields below 85% are automatically flagged for human review.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4099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 &amp; Human Review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51807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496866"/>
            <a:ext cx="3244868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Format Validate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50482" y="3935214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number patterns checked, cross-field consistency enforced, duplicate survey IDs flagged instantly.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551807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496866"/>
            <a:ext cx="3244868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Queue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473364" y="3935214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below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85% confidence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routed to a human reviewer dashboard — prioritized by dispute risk score.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551807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496866"/>
            <a:ext cx="3244868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Store &amp; Index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8096246" y="3935214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records written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 + PostGIS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enabling sub-second spatial queries and full audit logs.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79735"/>
            <a:ext cx="5311940" cy="53120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24630" y="2832695"/>
            <a:ext cx="773986" cy="152499"/>
          </a:xfrm>
          <a:prstGeom prst="roundRect">
            <a:avLst>
              <a:gd name="adj" fmla="val 22125"/>
            </a:avLst>
          </a:prstGeom>
          <a:solidFill>
            <a:srgbClr val="E0D7F4"/>
          </a:solidFill>
          <a:ln/>
        </p:spPr>
      </p:sp>
      <p:sp>
        <p:nvSpPr>
          <p:cNvPr id="4" name="Text 1"/>
          <p:cNvSpPr/>
          <p:nvPr/>
        </p:nvSpPr>
        <p:spPr>
          <a:xfrm>
            <a:off x="6284854" y="2862759"/>
            <a:ext cx="1263122" cy="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&amp; VISUALIZE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224630" y="3006527"/>
            <a:ext cx="5311940" cy="34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spc="-4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See Every Claim. Flag Every Conflict.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224630" y="3404890"/>
            <a:ext cx="5311940" cy="2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records are rendered as </a:t>
            </a:r>
            <a:pPr algn="l" indent="0" marL="0">
              <a:lnSpc>
                <a:spcPct val="102000"/>
              </a:lnSpc>
              <a:buNone/>
            </a:pPr>
            <a:r>
              <a:rPr lang="en-US" sz="750" b="1" spc="-1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GeoJSON polygons</a:t>
            </a:r>
            <a:pPr algn="l" indent="0" marL="0">
              <a:lnSpc>
                <a:spcPct val="102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 Leaflet/MapLibre interactive map — giving authorities and citizens a real-time spatial view of land ownership.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5998964"/>
            <a:ext cx="5413736" cy="3529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7281" y="6011664"/>
            <a:ext cx="5275230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Overlap Detection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87281" y="6216253"/>
            <a:ext cx="527523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Conflicting boundary claims highlighted in real-time — no manual cross-referencing required.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484" y="5998964"/>
            <a:ext cx="5413736" cy="3529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54990" y="6011664"/>
            <a:ext cx="5275230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Citizen Portal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254990" y="6216253"/>
            <a:ext cx="527523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Public-facing interface shows verified ownership with tamper evidence — accessible from any browser.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2153741"/>
            <a:ext cx="90941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46765" y="2210395"/>
            <a:ext cx="129219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2516485"/>
            <a:ext cx="6296860" cy="1299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150" b="1" spc="-16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Demo</a:t>
            </a:r>
            <a:endParaRPr lang="en-US" sz="8150" dirty="0"/>
          </a:p>
        </p:txBody>
      </p:sp>
      <p:sp>
        <p:nvSpPr>
          <p:cNvPr id="7" name="Text 4"/>
          <p:cNvSpPr/>
          <p:nvPr/>
        </p:nvSpPr>
        <p:spPr>
          <a:xfrm>
            <a:off x="5233360" y="409942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pipeline in action — from scanned register page to verified spatial record in under 2 minutes.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4594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Demo: Scan to Verified Record </a:t>
            </a:r>
            <a:pPr algn="l" indent="0" marL="0">
              <a:lnSpc>
                <a:spcPct val="104000"/>
              </a:lnSpc>
              <a:buNone/>
            </a:pPr>
            <a:r>
              <a:rPr lang="en-US" sz="4050" b="1" i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(2 min)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45916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518172"/>
            <a:ext cx="5339820" cy="2540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663428"/>
            <a:ext cx="5339820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Upload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61475" y="3101777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scanned Tamil Nadu register page is dropped into the portal — raw image, no preprocessing required from the user.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245916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0301" y="2518172"/>
            <a:ext cx="5339919" cy="2540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9" name="Text 5"/>
          <p:cNvSpPr/>
          <p:nvPr/>
        </p:nvSpPr>
        <p:spPr>
          <a:xfrm>
            <a:off x="6190301" y="2663428"/>
            <a:ext cx="5339919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OCR Extraction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190301" y="3101777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in real-time as owner name, survey number, and area are extracted — confidence scores appear field by field.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60924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1475" y="4333180"/>
            <a:ext cx="5339820" cy="2540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3" name="Text 8"/>
          <p:cNvSpPr/>
          <p:nvPr/>
        </p:nvSpPr>
        <p:spPr>
          <a:xfrm>
            <a:off x="661475" y="4478437"/>
            <a:ext cx="5339820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Flagging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61475" y="4916785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Low-confidence fields light up in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reviewer sees exactly which values need a human decision before saving.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060924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0301" y="4333180"/>
            <a:ext cx="5339919" cy="2540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7" name="Text 11"/>
          <p:cNvSpPr/>
          <p:nvPr/>
        </p:nvSpPr>
        <p:spPr>
          <a:xfrm>
            <a:off x="6190301" y="4478437"/>
            <a:ext cx="5339919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Verify &amp; Map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190301" y="4916785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confirms → record is saved → the parcel polygon appears live on the geospatial map with a verified badge.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2026-10-01T07:57:52Z</dcterms:created>
  <dcterms:modified xsi:type="dcterms:W3CDTF">2026-10-01T07:57:52Z</dcterms:modified>
</cp:coreProperties>
</file>